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B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0E7C8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1097280"/>
            <a:ext cx="2926080" cy="2926080"/>
          </a:xfrm>
          <a:prstGeom prst="ellipse">
            <a:avLst/>
          </a:prstGeom>
          <a:solidFill>
            <a:srgbClr val="2A9D8F">
              <a:alpha val="3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052560" y="4297680"/>
            <a:ext cx="2377440" cy="2377440"/>
          </a:xfrm>
          <a:prstGeom prst="ellipse">
            <a:avLst/>
          </a:prstGeom>
          <a:solidFill>
            <a:srgbClr val="E9C46A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300" kern="0" dirty="0">
                <a:solidFill>
                  <a:srgbClr val="E9C46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老師實作指南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8412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用 AI 打造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歷屆考題刷題工具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41248" y="3886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0D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只要有 </a:t>
            </a:r>
            <a:pPr indent="0" marL="0">
              <a:buNone/>
            </a:pPr>
            <a:r>
              <a:rPr lang="en-US" sz="1800" b="1" dirty="0">
                <a:solidFill>
                  <a:srgbClr val="E9C46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PDF 或圖片</a:t>
            </a:r>
            <a:pPr indent="0" marL="0">
              <a:buNone/>
            </a:pPr>
            <a:r>
              <a:rPr lang="en-US" sz="1800" dirty="0">
                <a:solidFill>
                  <a:srgbClr val="CFE0D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，就能做出可刷題、自動對答案的網頁工具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1248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3B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適用 Claude Code / Codex　·　詹爸（傑克）整理，可自由分享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92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你能做出什麼？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7C8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一個給學生用的歷屆題互動刷題網頁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2057400"/>
          </a:xfrm>
          <a:prstGeom prst="roundRect">
            <a:avLst>
              <a:gd name="adj" fmla="val 5333"/>
            </a:avLst>
          </a:prstGeom>
          <a:solidFill>
            <a:srgbClr val="F4F9F8"/>
          </a:solidFill>
          <a:ln w="12700">
            <a:solidFill>
              <a:srgbClr val="CFE0DE"/>
            </a:solidFill>
            <a:prstDash val="solid"/>
          </a:ln>
          <a:effectLst>
            <a:outerShdw sx="100000" sy="100000" kx="0" ky="0" algn="bl" rotWithShape="0" blurRad="114300" dist="38100" dir="5400000">
              <a:srgbClr val="0A3B44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920240"/>
            <a:ext cx="777240" cy="7772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920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920240" y="198424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92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答題卡刷題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05840" y="2770632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C737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整份題目一次列出，學生像劃答案卡一樣作答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257800" cy="2057400"/>
          </a:xfrm>
          <a:prstGeom prst="roundRect">
            <a:avLst>
              <a:gd name="adj" fmla="val 5333"/>
            </a:avLst>
          </a:prstGeom>
          <a:solidFill>
            <a:srgbClr val="F4F9F8"/>
          </a:solidFill>
          <a:ln w="12700">
            <a:solidFill>
              <a:srgbClr val="CFE0DE"/>
            </a:solidFill>
            <a:prstDash val="solid"/>
          </a:ln>
          <a:effectLst>
            <a:outerShdw sx="100000" sy="100000" kx="0" ky="0" algn="bl" rotWithShape="0" blurRad="114300" dist="38100" dir="5400000">
              <a:srgbClr val="0A3B44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1920240"/>
            <a:ext cx="777240" cy="7772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920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543800" y="198424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92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交卷自動對答案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629400" y="2770632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C737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一鍵判分，立刻看到得分與正確答案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3931920"/>
            <a:ext cx="5257800" cy="2057400"/>
          </a:xfrm>
          <a:prstGeom prst="roundRect">
            <a:avLst>
              <a:gd name="adj" fmla="val 5333"/>
            </a:avLst>
          </a:prstGeom>
          <a:solidFill>
            <a:srgbClr val="F4F9F8"/>
          </a:solidFill>
          <a:ln w="12700">
            <a:solidFill>
              <a:srgbClr val="CFE0DE"/>
            </a:solidFill>
            <a:prstDash val="solid"/>
          </a:ln>
          <a:effectLst>
            <a:outerShdw sx="100000" sy="100000" kx="0" ky="0" algn="bl" rotWithShape="0" blurRad="114300" dist="38100" dir="5400000">
              <a:srgbClr val="0A3B44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0120" y="4251960"/>
            <a:ext cx="777240" cy="7772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251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920240" y="431596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92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錯題與紀錄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005840" y="5102352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C737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自動列出錯題，老師/家長頁看完成率與弱點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63640" y="3931920"/>
            <a:ext cx="5257800" cy="2057400"/>
          </a:xfrm>
          <a:prstGeom prst="roundRect">
            <a:avLst>
              <a:gd name="adj" fmla="val 5333"/>
            </a:avLst>
          </a:prstGeom>
          <a:solidFill>
            <a:srgbClr val="F4F9F8"/>
          </a:solidFill>
          <a:ln w="12700">
            <a:solidFill>
              <a:srgbClr val="CFE0DE"/>
            </a:solidFill>
            <a:prstDash val="solid"/>
          </a:ln>
          <a:effectLst>
            <a:outerShdw sx="100000" sy="100000" kx="0" ky="0" algn="bl" rotWithShape="0" blurRad="114300" dist="38100" dir="5400000">
              <a:srgbClr val="0A3B44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0" y="4251960"/>
            <a:ext cx="777240" cy="7772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4251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543800" y="431596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92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手機也能用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6629400" y="5102352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C737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手機、平板、電腦都能開，隨時練習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737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92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你只需要準備這些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7C8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重點：大部分老師手上只有 PDF 或圖片 — 這樣就夠了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F4F9F8"/>
          </a:solidFill>
          <a:ln w="12700">
            <a:solidFill>
              <a:srgbClr val="CFE0DE"/>
            </a:solidFill>
            <a:prstDash val="solid"/>
          </a:ln>
          <a:effectLst>
            <a:outerShdw sx="100000" sy="100000" kx="0" ky="0" algn="bl" rotWithShape="0" blurRad="114300" dist="38100" dir="5400000">
              <a:srgbClr val="0A3B44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11680"/>
            <a:ext cx="822960" cy="82296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PDF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965960" y="208483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92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官方試題 PDF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965960" y="25786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最推薦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3154680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16292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同時有「試題」和「答案」兩個檔最好</a:t>
            </a:r>
            <a:endParaRPr lang="en-US" sz="14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16292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直接讀 PDF，抽出題目、選項、圖表</a:t>
            </a:r>
            <a:endParaRPr lang="en-US" sz="14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16292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辨識最準、效果最好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309360" y="1691640"/>
            <a:ext cx="5212080" cy="2743200"/>
          </a:xfrm>
          <a:prstGeom prst="roundRect">
            <a:avLst>
              <a:gd name="adj" fmla="val 4000"/>
            </a:avLst>
          </a:prstGeom>
          <a:solidFill>
            <a:srgbClr val="F4F9F8"/>
          </a:solidFill>
          <a:ln w="12700">
            <a:solidFill>
              <a:srgbClr val="CFE0DE"/>
            </a:solidFill>
            <a:prstDash val="solid"/>
          </a:ln>
          <a:effectLst>
            <a:outerShdw sx="100000" sy="100000" kx="0" ky="0" algn="bl" rotWithShape="0" blurRad="114300" dist="38100" dir="5400000">
              <a:srgbClr val="0A3B44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29400" y="2011680"/>
            <a:ext cx="822960" cy="82296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3D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IMG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635240" y="20848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92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試卷照片／圖片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635240" y="25786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也可以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29400" y="3154680"/>
            <a:ext cx="4663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16292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沒有 PDF 時，用清晰的照片/掃描也行</a:t>
            </a:r>
            <a:endParaRPr lang="en-US" sz="14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16292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每頁拍一張、字要清楚</a:t>
            </a:r>
            <a:endParaRPr lang="en-US" sz="14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16292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辨識較易出錯 → 要逐題確認（見後面）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470916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0A3B44"/>
          </a:solidFill>
          <a:ln w="12700">
            <a:solidFill>
              <a:srgbClr val="CFE0DE"/>
            </a:solidFill>
            <a:prstDash val="solid"/>
          </a:ln>
          <a:effectLst>
            <a:outerShdw sx="100000" sy="100000" kx="0" ky="0" algn="bl" rotWithShape="0" blurRad="114300" dist="38100" dir="5400000">
              <a:srgbClr val="0A3B44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05840" y="49377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再加上一台電腦 ＋ 已安裝的 AI 工具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5840" y="5440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C46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Claude Code</a:t>
            </a:r>
            <a:pPr indent="0" marL="0">
              <a:buNone/>
            </a:pPr>
            <a:r>
              <a:rPr lang="en-US" sz="1600" dirty="0">
                <a:solidFill>
                  <a:srgbClr val="CFE0D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　或　</a:t>
            </a:r>
            <a:pPr indent="0" marL="0">
              <a:buNone/>
            </a:pPr>
            <a:r>
              <a:rPr lang="en-US" sz="1600" b="1" dirty="0">
                <a:solidFill>
                  <a:srgbClr val="E9C46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Codex</a:t>
            </a:r>
            <a:pPr indent="0" marL="0">
              <a:buNone/>
            </a:pPr>
            <a:r>
              <a:rPr lang="en-US" sz="1600" dirty="0">
                <a:solidFill>
                  <a:srgbClr val="CFE0D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　— 把提示詞貼進去，它會幫你寫程式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737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3B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三條鐵則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1430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C46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一定要連同提示詞一起交代給 AI — 這是全部的關鍵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0E4A54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75688"/>
            <a:ext cx="786384" cy="78638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7568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965960" y="198424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官方原檔是唯一依據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965960" y="2496312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0D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題目、選項、文章、答案只能照原樣，禁止 AI 改寫、修正、推測或補完。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355848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0E4A54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648456"/>
            <a:ext cx="786384" cy="78638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648456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965960" y="3557016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答案以官方為準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965960" y="406908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0D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答案取自官方答案檔，做完要逐題核對，不用 AI 自己算的答案。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928616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0E4A54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5221224"/>
            <a:ext cx="786384" cy="78638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221224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965960" y="5129784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不確定就標記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965960" y="5641848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0D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看不清楚、抽不出來的，一律列出來讓人檢查，不可自己猜一個填上。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737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92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整體流程 4 步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7C8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幫你做，你負責檢查 — 一次只做一科一年最穩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514600" cy="2743200"/>
          </a:xfrm>
          <a:prstGeom prst="roundRect">
            <a:avLst>
              <a:gd name="adj" fmla="val 4364"/>
            </a:avLst>
          </a:prstGeom>
          <a:solidFill>
            <a:srgbClr val="F4F9F8"/>
          </a:solidFill>
          <a:ln w="12700">
            <a:solidFill>
              <a:srgbClr val="CFE0DE"/>
            </a:solidFill>
            <a:prstDash val="solid"/>
          </a:ln>
          <a:effectLst>
            <a:outerShdw sx="100000" sy="100000" kx="0" ky="0" algn="bl" rotWithShape="0" blurRad="114300" dist="38100" dir="5400000">
              <a:srgbClr val="0A3B44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85900" y="2331720"/>
            <a:ext cx="822960" cy="82296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1485900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292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準備資料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77240" y="37947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C737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官方 PDF 或圖片</a:t>
            </a:r>
            <a:endParaRPr lang="en-US" sz="13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C737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放進一個資料夾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136392" y="2926080"/>
            <a:ext cx="429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7C8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▸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538728" y="1965960"/>
            <a:ext cx="2514600" cy="2743200"/>
          </a:xfrm>
          <a:prstGeom prst="roundRect">
            <a:avLst>
              <a:gd name="adj" fmla="val 4364"/>
            </a:avLst>
          </a:prstGeom>
          <a:solidFill>
            <a:srgbClr val="F4F9F8"/>
          </a:solidFill>
          <a:ln w="12700">
            <a:solidFill>
              <a:srgbClr val="CFE0DE"/>
            </a:solidFill>
            <a:prstDash val="solid"/>
          </a:ln>
          <a:effectLst>
            <a:outerShdw sx="100000" sy="100000" kx="0" ky="0" algn="bl" rotWithShape="0" blurRad="114300" dist="38100" dir="5400000">
              <a:srgbClr val="0A3B44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4548" y="2331720"/>
            <a:ext cx="822960" cy="82296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2" name="Text 10"/>
          <p:cNvSpPr/>
          <p:nvPr/>
        </p:nvSpPr>
        <p:spPr>
          <a:xfrm>
            <a:off x="4384548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538728" y="3291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292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讀原檔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675888" y="37947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C737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抽成題庫資料</a:t>
            </a:r>
            <a:endParaRPr lang="en-US" sz="13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C737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（忠實搬運，不判斷）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035040" y="2926080"/>
            <a:ext cx="429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7C8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▸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437376" y="1965960"/>
            <a:ext cx="2514600" cy="2743200"/>
          </a:xfrm>
          <a:prstGeom prst="roundRect">
            <a:avLst>
              <a:gd name="adj" fmla="val 4364"/>
            </a:avLst>
          </a:prstGeom>
          <a:solidFill>
            <a:srgbClr val="F4F9F8"/>
          </a:solidFill>
          <a:ln w="12700">
            <a:solidFill>
              <a:srgbClr val="CFE0DE"/>
            </a:solidFill>
            <a:prstDash val="solid"/>
          </a:ln>
          <a:effectLst>
            <a:outerShdw sx="100000" sy="100000" kx="0" ky="0" algn="bl" rotWithShape="0" blurRad="114300" dist="38100" dir="5400000">
              <a:srgbClr val="0A3B44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83196" y="2331720"/>
            <a:ext cx="822960" cy="82296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8" name="Text 16"/>
          <p:cNvSpPr/>
          <p:nvPr/>
        </p:nvSpPr>
        <p:spPr>
          <a:xfrm>
            <a:off x="7283196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437376" y="3291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292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做程式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574536" y="37947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C737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產生刷題網頁</a:t>
            </a:r>
            <a:endParaRPr lang="en-US" sz="13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C737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並把題庫接進去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933688" y="2926080"/>
            <a:ext cx="429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7C8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▸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9336024" y="1965960"/>
            <a:ext cx="2514600" cy="2743200"/>
          </a:xfrm>
          <a:prstGeom prst="roundRect">
            <a:avLst>
              <a:gd name="adj" fmla="val 4364"/>
            </a:avLst>
          </a:prstGeom>
          <a:solidFill>
            <a:srgbClr val="FDEEEA"/>
          </a:solidFill>
          <a:ln w="12700">
            <a:solidFill>
              <a:srgbClr val="CFE0DE"/>
            </a:solidFill>
            <a:prstDash val="solid"/>
          </a:ln>
          <a:effectLst>
            <a:outerShdw sx="100000" sy="100000" kx="0" ky="0" algn="bl" rotWithShape="0" blurRad="114300" dist="38100" dir="5400000">
              <a:srgbClr val="0A3B44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181844" y="2331720"/>
            <a:ext cx="822960" cy="82296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24" name="Text 22"/>
          <p:cNvSpPr/>
          <p:nvPr/>
        </p:nvSpPr>
        <p:spPr>
          <a:xfrm>
            <a:off x="10181844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4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9336024" y="3291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292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人工驗收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9473184" y="37947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C737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拿官方檔逐題對</a:t>
            </a:r>
            <a:endParaRPr lang="en-US" sz="13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C737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確認沒錯才完成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40080" y="52120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B5A6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每一批做完都要你親自對照官方檔驗收通過，才進行下一批。驗收通過前不公開發佈。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737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92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提示詞 1：做「刷題程式」外殼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7C8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貼一段話給 AI，它就做出程式的骨架；題庫之後再一批批加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6400800" cy="4480560"/>
          </a:xfrm>
          <a:prstGeom prst="roundRect">
            <a:avLst>
              <a:gd name="adj" fmla="val 2449"/>
            </a:avLst>
          </a:prstGeom>
          <a:solidFill>
            <a:srgbClr val="F4F9F8"/>
          </a:solidFill>
          <a:ln w="12700">
            <a:solidFill>
              <a:srgbClr val="CFE0DE"/>
            </a:solidFill>
            <a:prstDash val="solid"/>
          </a:ln>
          <a:effectLst>
            <a:outerShdw sx="100000" sy="100000" kx="0" ky="0" algn="bl" rotWithShape="0" blurRad="114300" dist="38100" dir="5400000">
              <a:srgbClr val="0A3B44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87452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5A6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貼給 AI 後，它會做出：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2423160"/>
            <a:ext cx="5806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6292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科目 → 年度 → 分類 → 答題卡 → 老師檢查 的完整流程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6292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答題卡作答、交卷自動判分、列出錯題與正解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6292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支援單選、多選、題組、克漏字、看圖題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6292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題組的共用文章/表格/圖固定顯示、只存一份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6292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純網頁、免後端，手機 360px 也正常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6292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作文/非選擇題不作答，只保留 PDF 瀏覽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269480" y="1645920"/>
            <a:ext cx="4251960" cy="4480560"/>
          </a:xfrm>
          <a:prstGeom prst="roundRect">
            <a:avLst>
              <a:gd name="adj" fmla="val 2581"/>
            </a:avLst>
          </a:prstGeom>
          <a:solidFill>
            <a:srgbClr val="0A3B44"/>
          </a:solidFill>
          <a:ln w="12700">
            <a:solidFill>
              <a:srgbClr val="CFE0DE"/>
            </a:solidFill>
            <a:prstDash val="solid"/>
          </a:ln>
          <a:effectLst>
            <a:outerShdw sx="100000" sy="100000" kx="0" ky="0" algn="bl" rotWithShape="0" blurRad="114300" dist="38100" dir="5400000">
              <a:srgbClr val="0A3B44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589520" y="1920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C46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完整提示詞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589520" y="239572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FE0D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整段可直接複製的文字，放在講義裡：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589520" y="31546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用AI開發刷題工具_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提示詞與流程.md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589520" y="4800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C46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 第三節「提示詞 1」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589520" y="5394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B3B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複製 · 貼上 · 送出，就這麼簡單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737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92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提示詞 2：從 PDF／圖片 做題庫（核心）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7C8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一次一科一年 — 這是整套工具最關鍵的一步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74720" cy="1874520"/>
          </a:xfrm>
          <a:prstGeom prst="roundRect">
            <a:avLst>
              <a:gd name="adj" fmla="val 5854"/>
            </a:avLst>
          </a:prstGeom>
          <a:solidFill>
            <a:srgbClr val="F4F9F8"/>
          </a:solidFill>
          <a:ln w="12700">
            <a:solidFill>
              <a:srgbClr val="CFE0DE"/>
            </a:solidFill>
            <a:prstDash val="solid"/>
          </a:ln>
          <a:effectLst>
            <a:outerShdw sx="100000" sy="100000" kx="0" ky="0" algn="bl" rotWithShape="0" blurRad="114300" dist="38100" dir="5400000">
              <a:srgbClr val="0A3B44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075688"/>
            <a:ext cx="566928" cy="56692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075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5920" y="209397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92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忠實抽取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" y="26974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C737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先用工具抽純文字、表格、圖片座標，只搬運不判斷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43400" y="1783080"/>
            <a:ext cx="3474720" cy="1874520"/>
          </a:xfrm>
          <a:prstGeom prst="roundRect">
            <a:avLst>
              <a:gd name="adj" fmla="val 5854"/>
            </a:avLst>
          </a:prstGeom>
          <a:solidFill>
            <a:srgbClr val="F4F9F8"/>
          </a:solidFill>
          <a:ln w="12700">
            <a:solidFill>
              <a:srgbClr val="CFE0DE"/>
            </a:solidFill>
            <a:prstDash val="solid"/>
          </a:ln>
          <a:effectLst>
            <a:outerShdw sx="100000" sy="100000" kx="0" ky="0" algn="bl" rotWithShape="0" blurRad="114300" dist="38100" dir="5400000">
              <a:srgbClr val="0A3B44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36008" y="2075688"/>
            <a:ext cx="566928" cy="56692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1" name="Text 9"/>
          <p:cNvSpPr/>
          <p:nvPr/>
        </p:nvSpPr>
        <p:spPr>
          <a:xfrm>
            <a:off x="4636008" y="2075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49240" y="209397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92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題組共用一份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36008" y="26974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C737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共用文章/表格/圖只存一份，各題只存自己的題幹選項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046720" y="1783080"/>
            <a:ext cx="3474720" cy="1874520"/>
          </a:xfrm>
          <a:prstGeom prst="roundRect">
            <a:avLst>
              <a:gd name="adj" fmla="val 5854"/>
            </a:avLst>
          </a:prstGeom>
          <a:solidFill>
            <a:srgbClr val="F4F9F8"/>
          </a:solidFill>
          <a:ln w="12700">
            <a:solidFill>
              <a:srgbClr val="CFE0DE"/>
            </a:solidFill>
            <a:prstDash val="solid"/>
          </a:ln>
          <a:effectLst>
            <a:outerShdw sx="100000" sy="100000" kx="0" ky="0" algn="bl" rotWithShape="0" blurRad="114300" dist="38100" dir="5400000">
              <a:srgbClr val="0A3B44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39328" y="2075688"/>
            <a:ext cx="566928" cy="56692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6" name="Text 14"/>
          <p:cNvSpPr/>
          <p:nvPr/>
        </p:nvSpPr>
        <p:spPr>
          <a:xfrm>
            <a:off x="8339328" y="2075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052560" y="209397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92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只裁真正的圖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39328" y="26974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C737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看圖題、複雜表格才裁圖；能打字的就不要變成圖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3931920"/>
            <a:ext cx="3474720" cy="1874520"/>
          </a:xfrm>
          <a:prstGeom prst="roundRect">
            <a:avLst>
              <a:gd name="adj" fmla="val 5854"/>
            </a:avLst>
          </a:prstGeom>
          <a:solidFill>
            <a:srgbClr val="F4F9F8"/>
          </a:solidFill>
          <a:ln w="12700">
            <a:solidFill>
              <a:srgbClr val="CFE0DE"/>
            </a:solidFill>
            <a:prstDash val="solid"/>
          </a:ln>
          <a:effectLst>
            <a:outerShdw sx="100000" sy="100000" kx="0" ky="0" algn="bl" rotWithShape="0" blurRad="114300" dist="38100" dir="5400000">
              <a:srgbClr val="0A3B44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32688" y="4224528"/>
            <a:ext cx="566928" cy="56692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1" name="Text 19"/>
          <p:cNvSpPr/>
          <p:nvPr/>
        </p:nvSpPr>
        <p:spPr>
          <a:xfrm>
            <a:off x="932688" y="42245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45920" y="424281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92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答案逐題核對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32688" y="48463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C737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答案取自官方答案檔，做完比對全部相符才算數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343400" y="3931920"/>
            <a:ext cx="3474720" cy="1874520"/>
          </a:xfrm>
          <a:prstGeom prst="roundRect">
            <a:avLst>
              <a:gd name="adj" fmla="val 5854"/>
            </a:avLst>
          </a:prstGeom>
          <a:solidFill>
            <a:srgbClr val="F4F9F8"/>
          </a:solidFill>
          <a:ln w="12700">
            <a:solidFill>
              <a:srgbClr val="CFE0DE"/>
            </a:solidFill>
            <a:prstDash val="solid"/>
          </a:ln>
          <a:effectLst>
            <a:outerShdw sx="100000" sy="100000" kx="0" ky="0" algn="bl" rotWithShape="0" blurRad="114300" dist="38100" dir="5400000">
              <a:srgbClr val="0A3B44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36008" y="4224528"/>
            <a:ext cx="566928" cy="56692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6" name="Text 24"/>
          <p:cNvSpPr/>
          <p:nvPr/>
        </p:nvSpPr>
        <p:spPr>
          <a:xfrm>
            <a:off x="4636008" y="42245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✓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49240" y="424281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92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疑問要標記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636008" y="48463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C737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抽不出來或看不清，標「待人工確認」交給你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8046720" y="3931920"/>
            <a:ext cx="3474720" cy="1874520"/>
          </a:xfrm>
          <a:prstGeom prst="roundRect">
            <a:avLst>
              <a:gd name="adj" fmla="val 5854"/>
            </a:avLst>
          </a:prstGeom>
          <a:solidFill>
            <a:srgbClr val="F4F9F8"/>
          </a:solidFill>
          <a:ln w="12700">
            <a:solidFill>
              <a:srgbClr val="CFE0DE"/>
            </a:solidFill>
            <a:prstDash val="solid"/>
          </a:ln>
          <a:effectLst>
            <a:outerShdw sx="100000" sy="100000" kx="0" ky="0" algn="bl" rotWithShape="0" blurRad="114300" dist="38100" dir="5400000">
              <a:srgbClr val="0A3B44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39328" y="4224528"/>
            <a:ext cx="566928" cy="56692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1" name="Text 29"/>
          <p:cNvSpPr/>
          <p:nvPr/>
        </p:nvSpPr>
        <p:spPr>
          <a:xfrm>
            <a:off x="8339328" y="42245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✓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052560" y="424281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92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作文不納入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339328" y="48463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C737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作文與非選擇題不做互動，只保留 PDF 瀏覽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737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92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只有照片／圖片時，特別注意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7C8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照片辨識比 PDF 容易出錯 — 多一道確認就穩了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914400"/>
          </a:xfrm>
          <a:prstGeom prst="roundRect">
            <a:avLst>
              <a:gd name="adj" fmla="val 12000"/>
            </a:avLst>
          </a:prstGeom>
          <a:solidFill>
            <a:srgbClr val="FDEEEA"/>
          </a:solidFill>
          <a:ln w="12700">
            <a:solidFill>
              <a:srgbClr val="CFE0DE"/>
            </a:solidFill>
            <a:prstDash val="solid"/>
          </a:ln>
          <a:effectLst>
            <a:outerShdw sx="100000" sy="100000" kx="0" ky="0" algn="bl" rotWithShape="0" blurRad="114300" dist="38100" dir="5400000">
              <a:srgbClr val="0A3B44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11096"/>
            <a:ext cx="566928" cy="566928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110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83080" y="184708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92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逐題先確認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63440" y="1847088"/>
            <a:ext cx="6720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737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請 AI 把每題「題號＋題幹＋選項」先列出來給你過目，你確認後再組題庫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798064"/>
            <a:ext cx="10881360" cy="914400"/>
          </a:xfrm>
          <a:prstGeom prst="roundRect">
            <a:avLst>
              <a:gd name="adj" fmla="val 12000"/>
            </a:avLst>
          </a:prstGeom>
          <a:solidFill>
            <a:srgbClr val="FDEEEA"/>
          </a:solidFill>
          <a:ln w="12700">
            <a:solidFill>
              <a:srgbClr val="CFE0DE"/>
            </a:solidFill>
            <a:prstDash val="solid"/>
          </a:ln>
          <a:effectLst>
            <a:outerShdw sx="100000" sy="100000" kx="0" ky="0" algn="bl" rotWithShape="0" blurRad="114300" dist="38100" dir="5400000">
              <a:srgbClr val="0A3B44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2971800"/>
            <a:ext cx="566928" cy="566928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971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783080" y="290779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92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不確定用【?】標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63440" y="2907792"/>
            <a:ext cx="6720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737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看不清楚的字詞用【?】標記，你對照原卷補正，不讓它自己猜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0080" y="3858768"/>
            <a:ext cx="10881360" cy="914400"/>
          </a:xfrm>
          <a:prstGeom prst="roundRect">
            <a:avLst>
              <a:gd name="adj" fmla="val 12000"/>
            </a:avLst>
          </a:prstGeom>
          <a:solidFill>
            <a:srgbClr val="F4F9F8"/>
          </a:solidFill>
          <a:ln w="12700">
            <a:solidFill>
              <a:srgbClr val="CFE0DE"/>
            </a:solidFill>
            <a:prstDash val="solid"/>
          </a:ln>
          <a:effectLst>
            <a:outerShdw sx="100000" sy="100000" kx="0" ky="0" algn="bl" rotWithShape="0" blurRad="114300" dist="38100" dir="5400000">
              <a:srgbClr val="0A3B44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032504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0325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783080" y="3968496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92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答案照官方核對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663440" y="3968496"/>
            <a:ext cx="6720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737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答案以你提供的官方答案為準，逐題比對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40080" y="4919472"/>
            <a:ext cx="10881360" cy="914400"/>
          </a:xfrm>
          <a:prstGeom prst="roundRect">
            <a:avLst>
              <a:gd name="adj" fmla="val 12000"/>
            </a:avLst>
          </a:prstGeom>
          <a:solidFill>
            <a:srgbClr val="F4F9F8"/>
          </a:solidFill>
          <a:ln w="12700">
            <a:solidFill>
              <a:srgbClr val="CFE0DE"/>
            </a:solidFill>
            <a:prstDash val="solid"/>
          </a:ln>
          <a:effectLst>
            <a:outerShdw sx="100000" sy="100000" kx="0" ky="0" algn="bl" rotWithShape="0" blurRad="114300" dist="38100" dir="5400000">
              <a:srgbClr val="0A3B44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5093208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0932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783080" y="50292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92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建議先轉成 PDF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663440" y="5029200"/>
            <a:ext cx="6720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737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有條件的話把圖片轉成 PDF，再用提示詞 2A，通常更準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737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92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常見題型怎麼處理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7C8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遇到這些狀況，AI 依規矩處理就對了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1280160"/>
          </a:xfrm>
          <a:prstGeom prst="roundRect">
            <a:avLst>
              <a:gd name="adj" fmla="val 8571"/>
            </a:avLst>
          </a:prstGeom>
          <a:solidFill>
            <a:srgbClr val="F4F9F8"/>
          </a:solidFill>
          <a:ln w="12700">
            <a:solidFill>
              <a:srgbClr val="CFE0DE"/>
            </a:solidFill>
            <a:prstDash val="solid"/>
          </a:ln>
          <a:effectLst>
            <a:outerShdw sx="100000" sy="100000" kx="0" ky="0" algn="bl" rotWithShape="0" blurRad="114300" dist="38100" dir="5400000">
              <a:srgbClr val="0A3B44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874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5A6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題組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2350008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37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共用文章/表格/圖只存一份，畫面固定顯示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257800" cy="1280160"/>
          </a:xfrm>
          <a:prstGeom prst="roundRect">
            <a:avLst>
              <a:gd name="adj" fmla="val 8571"/>
            </a:avLst>
          </a:prstGeom>
          <a:solidFill>
            <a:srgbClr val="EAF3F2"/>
          </a:solidFill>
          <a:ln w="12700">
            <a:solidFill>
              <a:srgbClr val="CFE0DE"/>
            </a:solidFill>
            <a:prstDash val="solid"/>
          </a:ln>
          <a:effectLst>
            <a:outerShdw sx="100000" sy="100000" kx="0" ky="0" algn="bl" rotWithShape="0" blurRad="114300" dist="38100" dir="5400000">
              <a:srgbClr val="0A3B44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1874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5A6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看圖選擇題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3680" y="2350008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37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四個選項圖各裁一張，答案卡對應 A/B/C/D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172968"/>
            <a:ext cx="5257800" cy="1280160"/>
          </a:xfrm>
          <a:prstGeom prst="roundRect">
            <a:avLst>
              <a:gd name="adj" fmla="val 8571"/>
            </a:avLst>
          </a:prstGeom>
          <a:solidFill>
            <a:srgbClr val="F4F9F8"/>
          </a:solidFill>
          <a:ln w="12700">
            <a:solidFill>
              <a:srgbClr val="CFE0DE"/>
            </a:solidFill>
            <a:prstDash val="solid"/>
          </a:ln>
          <a:effectLst>
            <a:outerShdw sx="100000" sy="100000" kx="0" ky="0" algn="bl" rotWithShape="0" blurRad="114300" dist="38100" dir="5400000">
              <a:srgbClr val="0A3B44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0120" y="33558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5A6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表格題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3831336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37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正確做出合併儲存格，不用空白格假裝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63640" y="3172968"/>
            <a:ext cx="5257800" cy="1280160"/>
          </a:xfrm>
          <a:prstGeom prst="roundRect">
            <a:avLst>
              <a:gd name="adj" fmla="val 8571"/>
            </a:avLst>
          </a:prstGeom>
          <a:solidFill>
            <a:srgbClr val="EAF3F2"/>
          </a:solidFill>
          <a:ln w="12700">
            <a:solidFill>
              <a:srgbClr val="CFE0DE"/>
            </a:solidFill>
            <a:prstDash val="solid"/>
          </a:ln>
          <a:effectLst>
            <a:outerShdw sx="100000" sy="100000" kx="0" ky="0" algn="bl" rotWithShape="0" blurRad="114300" dist="38100" dir="5400000">
              <a:srgbClr val="0A3B44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83680" y="33558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5A6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雙欄排版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83680" y="3831336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37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文字會錯亂 → 直接裁那塊區域成一張圖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654296"/>
            <a:ext cx="5257800" cy="1280160"/>
          </a:xfrm>
          <a:prstGeom prst="roundRect">
            <a:avLst>
              <a:gd name="adj" fmla="val 8571"/>
            </a:avLst>
          </a:prstGeom>
          <a:solidFill>
            <a:srgbClr val="F4F9F8"/>
          </a:solidFill>
          <a:ln w="12700">
            <a:solidFill>
              <a:srgbClr val="CFE0DE"/>
            </a:solidFill>
            <a:prstDash val="solid"/>
          </a:ln>
          <a:effectLst>
            <a:outerShdw sx="100000" sy="100000" kx="0" ky="0" algn="bl" rotWithShape="0" blurRad="114300" dist="38100" dir="5400000">
              <a:srgbClr val="0A3B44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0120" y="483717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5A6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多選題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" y="5312664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37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全部選對才算對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63640" y="4654296"/>
            <a:ext cx="5257800" cy="1280160"/>
          </a:xfrm>
          <a:prstGeom prst="roundRect">
            <a:avLst>
              <a:gd name="adj" fmla="val 8571"/>
            </a:avLst>
          </a:prstGeom>
          <a:solidFill>
            <a:srgbClr val="EAF3F2"/>
          </a:solidFill>
          <a:ln w="12700">
            <a:solidFill>
              <a:srgbClr val="CFE0DE"/>
            </a:solidFill>
            <a:prstDash val="solid"/>
          </a:ln>
          <a:effectLst>
            <a:outerShdw sx="100000" sy="100000" kx="0" ky="0" algn="bl" rotWithShape="0" blurRad="114300" dist="38100" dir="5400000">
              <a:srgbClr val="0A3B44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83680" y="483717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5A6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作文/非選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83680" y="5312664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37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不做互動，只保留官方 PDF 瀏覽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737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92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驗收清單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7C8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你拿官方 PDF 逐項打勾 — 全打勾才算正式完成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841248"/>
          </a:xfrm>
          <a:prstGeom prst="roundRect">
            <a:avLst>
              <a:gd name="adj" fmla="val 13043"/>
            </a:avLst>
          </a:prstGeom>
          <a:solidFill>
            <a:srgbClr val="F4F9F8"/>
          </a:solidFill>
          <a:ln w="12700">
            <a:solidFill>
              <a:srgbClr val="CFE0DE"/>
            </a:solidFill>
            <a:prstDash val="solid"/>
          </a:ln>
          <a:effectLst>
            <a:outerShdw sx="100000" sy="100000" kx="0" ky="0" algn="bl" rotWithShape="0" blurRad="114300" dist="38100" dir="5400000">
              <a:srgbClr val="0A3B44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29384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11096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819656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92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題號、題幹、選項與官方一字不差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349240" cy="841248"/>
          </a:xfrm>
          <a:prstGeom prst="roundRect">
            <a:avLst>
              <a:gd name="adj" fmla="val 13043"/>
            </a:avLst>
          </a:prstGeom>
          <a:solidFill>
            <a:srgbClr val="F4F9F8"/>
          </a:solidFill>
          <a:ln w="12700">
            <a:solidFill>
              <a:srgbClr val="CFE0DE"/>
            </a:solidFill>
            <a:prstDash val="solid"/>
          </a:ln>
          <a:effectLst>
            <a:outerShdw sx="100000" sy="100000" kx="0" ky="0" algn="bl" rotWithShape="0" blurRad="114300" dist="38100" dir="5400000">
              <a:srgbClr val="0A3B44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37960" y="1929384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911096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86600" y="1819656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92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每題答案都與官方答案相符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2715768"/>
            <a:ext cx="5349240" cy="841248"/>
          </a:xfrm>
          <a:prstGeom prst="roundRect">
            <a:avLst>
              <a:gd name="adj" fmla="val 13043"/>
            </a:avLst>
          </a:prstGeom>
          <a:solidFill>
            <a:srgbClr val="F4F9F8"/>
          </a:solidFill>
          <a:ln w="12700">
            <a:solidFill>
              <a:srgbClr val="CFE0DE"/>
            </a:solidFill>
            <a:prstDash val="solid"/>
          </a:ln>
          <a:effectLst>
            <a:outerShdw sx="100000" sy="100000" kx="0" ky="0" algn="bl" rotWithShape="0" blurRad="114300" dist="38100" dir="5400000">
              <a:srgbClr val="0A3B44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295351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935224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2843784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92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純文字題沒有多餘圖片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263640" y="2715768"/>
            <a:ext cx="5349240" cy="841248"/>
          </a:xfrm>
          <a:prstGeom prst="roundRect">
            <a:avLst>
              <a:gd name="adj" fmla="val 13043"/>
            </a:avLst>
          </a:prstGeom>
          <a:solidFill>
            <a:srgbClr val="F4F9F8"/>
          </a:solidFill>
          <a:ln w="12700">
            <a:solidFill>
              <a:srgbClr val="CFE0DE"/>
            </a:solidFill>
            <a:prstDash val="solid"/>
          </a:ln>
          <a:effectLst>
            <a:outerShdw sx="100000" sy="100000" kx="0" ky="0" algn="bl" rotWithShape="0" blurRad="114300" dist="38100" dir="5400000">
              <a:srgbClr val="0A3B44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37960" y="295351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2A9D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2935224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86600" y="2843784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92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表格欄列、合併儲存格正確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40080" y="3739896"/>
            <a:ext cx="5349240" cy="841248"/>
          </a:xfrm>
          <a:prstGeom prst="roundRect">
            <a:avLst>
              <a:gd name="adj" fmla="val 13043"/>
            </a:avLst>
          </a:prstGeom>
          <a:solidFill>
            <a:srgbClr val="F4F9F8"/>
          </a:solidFill>
          <a:ln w="12700">
            <a:solidFill>
              <a:srgbClr val="CFE0DE"/>
            </a:solidFill>
            <a:prstDash val="solid"/>
          </a:ln>
          <a:effectLst>
            <a:outerShdw sx="100000" sy="100000" kx="0" ky="0" algn="bl" rotWithShape="0" blurRad="114300" dist="38100" dir="5400000">
              <a:srgbClr val="0A3B44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4400" y="39776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2A9D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95935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63040" y="3867912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92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插圖沒裁到多餘文字、沒缺角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263640" y="3739896"/>
            <a:ext cx="5349240" cy="841248"/>
          </a:xfrm>
          <a:prstGeom prst="roundRect">
            <a:avLst>
              <a:gd name="adj" fmla="val 13043"/>
            </a:avLst>
          </a:prstGeom>
          <a:solidFill>
            <a:srgbClr val="F4F9F8"/>
          </a:solidFill>
          <a:ln w="12700">
            <a:solidFill>
              <a:srgbClr val="CFE0DE"/>
            </a:solidFill>
            <a:prstDash val="solid"/>
          </a:ln>
          <a:effectLst>
            <a:outerShdw sx="100000" sy="100000" kx="0" ky="0" algn="bl" rotWithShape="0" blurRad="114300" dist="38100" dir="5400000">
              <a:srgbClr val="0A3B44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37960" y="39776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2A9D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395935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86600" y="3867912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92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題組共用資料只出現一份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640080" y="4764024"/>
            <a:ext cx="5349240" cy="841248"/>
          </a:xfrm>
          <a:prstGeom prst="roundRect">
            <a:avLst>
              <a:gd name="adj" fmla="val 13043"/>
            </a:avLst>
          </a:prstGeom>
          <a:solidFill>
            <a:srgbClr val="F4F9F8"/>
          </a:solidFill>
          <a:ln w="12700">
            <a:solidFill>
              <a:srgbClr val="CFE0DE"/>
            </a:solidFill>
            <a:prstDash val="solid"/>
          </a:ln>
          <a:effectLst>
            <a:outerShdw sx="100000" sy="100000" kx="0" ky="0" algn="bl" rotWithShape="0" blurRad="114300" dist="38100" dir="5400000">
              <a:srgbClr val="0A3B44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14400" y="500176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2A9D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498348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✓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463040" y="4892040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92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桌機與手機（360px）都不重疊、不溢出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6263640" y="4764024"/>
            <a:ext cx="5349240" cy="841248"/>
          </a:xfrm>
          <a:prstGeom prst="roundRect">
            <a:avLst>
              <a:gd name="adj" fmla="val 13043"/>
            </a:avLst>
          </a:prstGeom>
          <a:solidFill>
            <a:srgbClr val="F4F9F8"/>
          </a:solidFill>
          <a:ln w="12700">
            <a:solidFill>
              <a:srgbClr val="CFE0DE"/>
            </a:solidFill>
            <a:prstDash val="solid"/>
          </a:ln>
          <a:effectLst>
            <a:outerShdw sx="100000" sy="100000" kx="0" ky="0" algn="bl" rotWithShape="0" blurRad="114300" dist="38100" dir="5400000">
              <a:srgbClr val="0A3B44">
                <a:alpha val="14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537960" y="500176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2A9D8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498348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✓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086600" y="4892040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92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作文/非選擇題確實沒被放進作答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737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92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老師怎麼開始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7C8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用 Claude Code 或 Codex，照這個順序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74720" cy="1874520"/>
          </a:xfrm>
          <a:prstGeom prst="roundRect">
            <a:avLst>
              <a:gd name="adj" fmla="val 5854"/>
            </a:avLst>
          </a:prstGeom>
          <a:solidFill>
            <a:srgbClr val="F4F9F8"/>
          </a:solidFill>
          <a:ln w="12700">
            <a:solidFill>
              <a:srgbClr val="CFE0DE"/>
            </a:solidFill>
            <a:prstDash val="solid"/>
          </a:ln>
          <a:effectLst>
            <a:outerShdw sx="100000" sy="100000" kx="0" ky="0" algn="bl" rotWithShape="0" blurRad="114300" dist="38100" dir="5400000">
              <a:srgbClr val="0A3B44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640080" cy="64008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91640" y="211226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92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放好資料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" y="2770632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C737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官方 PDF 或圖片，依「年度／科目」分資料夾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43400" y="1783080"/>
            <a:ext cx="3474720" cy="1874520"/>
          </a:xfrm>
          <a:prstGeom prst="roundRect">
            <a:avLst>
              <a:gd name="adj" fmla="val 5854"/>
            </a:avLst>
          </a:prstGeom>
          <a:solidFill>
            <a:srgbClr val="F4F9F8"/>
          </a:solidFill>
          <a:ln w="12700">
            <a:solidFill>
              <a:srgbClr val="CFE0DE"/>
            </a:solidFill>
            <a:prstDash val="solid"/>
          </a:ln>
          <a:effectLst>
            <a:outerShdw sx="100000" sy="100000" kx="0" ky="0" algn="bl" rotWithShape="0" blurRad="114300" dist="38100" dir="5400000">
              <a:srgbClr val="0A3B44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2057400"/>
            <a:ext cx="640080" cy="64008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394960" y="211226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92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做程式外殼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36008" y="2770632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C737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貼提示詞 1，照它指示用瀏覽器打開看看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046720" y="1783080"/>
            <a:ext cx="3474720" cy="1874520"/>
          </a:xfrm>
          <a:prstGeom prst="roundRect">
            <a:avLst>
              <a:gd name="adj" fmla="val 5854"/>
            </a:avLst>
          </a:prstGeom>
          <a:solidFill>
            <a:srgbClr val="F4F9F8"/>
          </a:solidFill>
          <a:ln w="12700">
            <a:solidFill>
              <a:srgbClr val="CFE0DE"/>
            </a:solidFill>
            <a:prstDash val="solid"/>
          </a:ln>
          <a:effectLst>
            <a:outerShdw sx="100000" sy="100000" kx="0" ky="0" algn="bl" rotWithShape="0" blurRad="114300" dist="38100" dir="5400000">
              <a:srgbClr val="0A3B44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2057400"/>
            <a:ext cx="640080" cy="64008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098280" y="211226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92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做第一批題庫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39328" y="2770632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C737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貼提示詞 2，一次做一科一年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3931920"/>
            <a:ext cx="3474720" cy="1874520"/>
          </a:xfrm>
          <a:prstGeom prst="roundRect">
            <a:avLst>
              <a:gd name="adj" fmla="val 5854"/>
            </a:avLst>
          </a:prstGeom>
          <a:solidFill>
            <a:srgbClr val="F4F9F8"/>
          </a:solidFill>
          <a:ln w="12700">
            <a:solidFill>
              <a:srgbClr val="CFE0DE"/>
            </a:solidFill>
            <a:prstDash val="solid"/>
          </a:ln>
          <a:effectLst>
            <a:outerShdw sx="100000" sy="100000" kx="0" ky="0" algn="bl" rotWithShape="0" blurRad="114300" dist="38100" dir="5400000">
              <a:srgbClr val="0A3B44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4206240"/>
            <a:ext cx="640080" cy="64008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206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691640" y="426110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92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自己驗收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32688" y="4919472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C737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拿官方 PDF 對照驗收清單，逐項打勾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343400" y="3931920"/>
            <a:ext cx="3474720" cy="1874520"/>
          </a:xfrm>
          <a:prstGeom prst="roundRect">
            <a:avLst>
              <a:gd name="adj" fmla="val 5854"/>
            </a:avLst>
          </a:prstGeom>
          <a:solidFill>
            <a:srgbClr val="F4F9F8"/>
          </a:solidFill>
          <a:ln w="12700">
            <a:solidFill>
              <a:srgbClr val="CFE0DE"/>
            </a:solidFill>
            <a:prstDash val="solid"/>
          </a:ln>
          <a:effectLst>
            <a:outerShdw sx="100000" sy="100000" kx="0" ky="0" algn="bl" rotWithShape="0" blurRad="114300" dist="38100" dir="5400000">
              <a:srgbClr val="0A3B44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4206240"/>
            <a:ext cx="640080" cy="64008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6" name="Text 24"/>
          <p:cNvSpPr/>
          <p:nvPr/>
        </p:nvSpPr>
        <p:spPr>
          <a:xfrm>
            <a:off x="4617720" y="4206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394960" y="426110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92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做下一批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636008" y="4919472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C737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驗收通過，再貼提示詞 3 做下一科/年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8046720" y="3931920"/>
            <a:ext cx="3474720" cy="1874520"/>
          </a:xfrm>
          <a:prstGeom prst="roundRect">
            <a:avLst>
              <a:gd name="adj" fmla="val 5854"/>
            </a:avLst>
          </a:prstGeom>
          <a:solidFill>
            <a:srgbClr val="F4F9F8"/>
          </a:solidFill>
          <a:ln w="12700">
            <a:solidFill>
              <a:srgbClr val="CFE0DE"/>
            </a:solidFill>
            <a:prstDash val="solid"/>
          </a:ln>
          <a:effectLst>
            <a:outerShdw sx="100000" sy="100000" kx="0" ky="0" algn="bl" rotWithShape="0" blurRad="114300" dist="38100" dir="5400000">
              <a:srgbClr val="0A3B44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21040" y="4206240"/>
            <a:ext cx="640080" cy="64008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31" name="Text 29"/>
          <p:cNvSpPr/>
          <p:nvPr/>
        </p:nvSpPr>
        <p:spPr>
          <a:xfrm>
            <a:off x="8321040" y="4206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098280" y="426110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92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分享給學生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339328" y="4919472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C737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全部確認無誤，才給學生使用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B5A6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小訣竅：一次一科一年、做完就驗收，最穩也最好檢查。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737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3B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754880" cy="4754880"/>
          </a:xfrm>
          <a:prstGeom prst="ellipse">
            <a:avLst/>
          </a:prstGeom>
          <a:solidFill>
            <a:srgbClr val="0E7C86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-1463040"/>
            <a:ext cx="3840480" cy="3840480"/>
          </a:xfrm>
          <a:prstGeom prst="ellipse">
            <a:avLst/>
          </a:prstGeom>
          <a:solidFill>
            <a:srgbClr val="2A9D8F">
              <a:alpha val="3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373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200" kern="0" dirty="0">
                <a:solidFill>
                  <a:srgbClr val="E9C46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記住一句話就好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忠於官方原檔，做完人工核對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41248" y="36118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0D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做題庫不是讓 AI 出題，而是讓 AI 忠實整理官方題目、你來把關。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4526280"/>
            <a:ext cx="10515600" cy="1234440"/>
          </a:xfrm>
          <a:prstGeom prst="roundRect">
            <a:avLst>
              <a:gd name="adj" fmla="val 8889"/>
            </a:avLst>
          </a:prstGeom>
          <a:solidFill>
            <a:srgbClr val="0E4A54"/>
          </a:solidFill>
          <a:ln w="12700">
            <a:solidFill>
              <a:srgbClr val="CFE0DE"/>
            </a:solidFill>
            <a:prstDash val="solid"/>
          </a:ln>
          <a:effectLst>
            <a:outerShdw sx="100000" sy="100000" kx="0" ky="0" algn="bl" rotWithShape="0" blurRad="114300" dist="38100" dir="5400000">
              <a:srgbClr val="0A3B44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43000" y="489204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0D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完整提示詞與流程講義：</a:t>
            </a:r>
            <a:pPr indent="0" marL="0">
              <a:buNone/>
            </a:pPr>
            <a:r>
              <a:rPr lang="en-US" sz="1600" b="1" dirty="0">
                <a:solidFill>
                  <a:srgbClr val="E9C46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docs/用AI開發刷題工具_提示詞與流程.md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用 AI 打造歷屆考題刷題工具</dc:title>
  <dc:subject>PptxGenJS Presentation</dc:subject>
  <dc:creator>詹爸（傑克）</dc:creator>
  <cp:lastModifiedBy>詹爸（傑克）</cp:lastModifiedBy>
  <cp:revision>1</cp:revision>
  <dcterms:created xsi:type="dcterms:W3CDTF">2026-07-10T05:21:00Z</dcterms:created>
  <dcterms:modified xsi:type="dcterms:W3CDTF">2026-07-10T05:21:00Z</dcterms:modified>
</cp:coreProperties>
</file>